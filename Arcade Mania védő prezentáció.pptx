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67" r:id="rId16"/>
  </p:sldIdLst>
  <p:sldSz cx="9144000" cy="5143500" type="screen16x9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-18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97d586c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97d586cd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97d586cd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97d586cd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97d586cd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97d586cd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97d586cd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97d586cd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97d586cd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97d586cd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97d586cd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97d586cdc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97d586cdc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97d586cdc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FF42975-014F-002F-79AD-ADFEC4BE4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B6BC5F03-C23E-E0A5-BDC8-1BB18F201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1592952C-AE9F-D18A-FBFE-CFD89F7A6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34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219B1E4B-30FE-69A1-CF2C-10CBF685C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F68AB25C-608E-9A12-BF50-6D092ED67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87154247-96B3-D12B-9119-56256B762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8351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C26E7CB-B401-289E-C5D6-8086F60D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ABE0A970-AC70-70DF-22ED-5D58C34F5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9FD68D92-0357-6FFA-4695-E06A1F1E7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561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78A0F182-DAE9-641C-7D9D-65736E39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3ED10C74-4D68-77B3-79CF-63C404E9C3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39F9D3E6-C4DE-5910-346F-CC4523A42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0307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A6C4E60B-DB62-2E75-F683-2E00355C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B6AF4F35-890E-FC6C-2AA4-A6729650C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3D193268-613A-074D-9A3E-F031BCB05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708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078CDB4-0A15-174E-CBD3-D9AFF2FF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97d586cdc_0_45:notes">
            <a:extLst>
              <a:ext uri="{FF2B5EF4-FFF2-40B4-BE49-F238E27FC236}">
                <a16:creationId xmlns:a16="http://schemas.microsoft.com/office/drawing/2014/main" id="{EF1709DC-1208-35C3-9396-77251E93E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97d586cdc_0_45:notes">
            <a:extLst>
              <a:ext uri="{FF2B5EF4-FFF2-40B4-BE49-F238E27FC236}">
                <a16:creationId xmlns:a16="http://schemas.microsoft.com/office/drawing/2014/main" id="{6E35FB25-B27E-9D1A-F49E-B1033172A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6994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97d586cd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97d586cd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dirty="0"/>
              <a:t>Arcade Mania</a:t>
            </a:r>
            <a:br>
              <a:rPr lang="hu" dirty="0"/>
            </a:br>
            <a:r>
              <a:rPr lang="hu" sz="2000" dirty="0"/>
              <a:t>Védő prezentáció</a:t>
            </a:r>
            <a:endParaRPr sz="2000"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dirty="0"/>
              <a:t>Bódi Szabolcs, Oravecz Ádám József, Tátrai Levente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Arcade Mania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hu-HU" sz="1800" dirty="0"/>
              <a:t>Készítette:</a:t>
            </a:r>
            <a:r>
              <a:rPr lang="hu" sz="1800" dirty="0"/>
              <a:t> Bódi Szabolcs, Oravecz Ádám József, Tátrai Levente</a:t>
            </a:r>
            <a:endParaRPr sz="18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800" dirty="0"/>
              <a:t>Konzulens: Németh Bence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hu" sz="18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800" dirty="0"/>
              <a:t>Miskolci SZC Kandó Kálmán Informatikai Technikum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u" sz="1800" dirty="0"/>
              <a:t>Szoftverfejlesztő- és tesztelő szal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u-HU" sz="1800" dirty="0"/>
              <a:t>2026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Projekt bemutatása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5250" lvl="0" indent="0">
              <a:lnSpc>
                <a:spcPct val="150000"/>
              </a:lnSpc>
              <a:buSzPts val="2100"/>
              <a:buNone/>
            </a:pPr>
            <a:r>
              <a:rPr lang="pt-BR" sz="1800" dirty="0"/>
              <a:t>Az Arcade Mania egy online arcade játékplatform</a:t>
            </a:r>
            <a:endParaRPr lang="hu-HU" sz="1800" dirty="0"/>
          </a:p>
          <a:p>
            <a:pPr marL="95250" lvl="0" indent="0">
              <a:lnSpc>
                <a:spcPct val="150000"/>
              </a:lnSpc>
              <a:buSzPts val="2100"/>
              <a:buNone/>
            </a:pPr>
            <a:r>
              <a:rPr lang="hu-HU" sz="1800" dirty="0"/>
              <a:t>Klasszikus játéktermek hangulatát hozza webes környezetbe</a:t>
            </a:r>
            <a:endParaRPr sz="1800" dirty="0"/>
          </a:p>
          <a:p>
            <a:pPr marL="95250" lvl="0" indent="0">
              <a:lnSpc>
                <a:spcPct val="150000"/>
              </a:lnSpc>
              <a:buSzPts val="2100"/>
              <a:buNone/>
            </a:pPr>
            <a:r>
              <a:rPr lang="hu-HU" sz="1800" dirty="0"/>
              <a:t>A felhasználók több játékot játszhatnak egy rendszerben</a:t>
            </a:r>
          </a:p>
          <a:p>
            <a:pPr marL="95250" lvl="0" indent="0">
              <a:lnSpc>
                <a:spcPct val="150000"/>
              </a:lnSpc>
              <a:buSzPts val="2100"/>
              <a:buNone/>
            </a:pPr>
            <a:r>
              <a:rPr lang="hu-HU" sz="1800" dirty="0"/>
              <a:t>A rendszer rögzíti és rangsorolja a pontszámokat</a:t>
            </a:r>
          </a:p>
          <a:p>
            <a:pPr marL="95250" lvl="0" indent="0">
              <a:lnSpc>
                <a:spcPct val="150000"/>
              </a:lnSpc>
              <a:buSzPts val="2100"/>
              <a:buNone/>
            </a:pPr>
            <a:r>
              <a:rPr lang="en-US" sz="1800" dirty="0"/>
              <a:t>A platform </a:t>
            </a:r>
            <a:r>
              <a:rPr lang="en-US" sz="1800" dirty="0" err="1"/>
              <a:t>egy</a:t>
            </a:r>
            <a:r>
              <a:rPr lang="en-US" sz="1800" dirty="0"/>
              <a:t> full-stack </a:t>
            </a:r>
            <a:r>
              <a:rPr lang="en-US" sz="1800" dirty="0" err="1"/>
              <a:t>webalkalmazás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A projekt célja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hu-HU" sz="1800" dirty="0"/>
              <a:t>A projekt célja egy olyan rendszer létrehozása volt, amely:</a:t>
            </a:r>
            <a:endParaRPr lang="hu-HU" sz="1700" dirty="0"/>
          </a:p>
          <a:p>
            <a:pPr marL="0" indent="0">
              <a:spcBef>
                <a:spcPts val="1200"/>
              </a:spcBef>
              <a:buNone/>
            </a:pPr>
            <a:r>
              <a:rPr lang="hu-HU" sz="1800" dirty="0"/>
              <a:t>          lehetővé teszi a felhasználók regisztrációját és bejelentkezését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u-HU" sz="1800" dirty="0"/>
              <a:t>          különböző </a:t>
            </a:r>
            <a:r>
              <a:rPr lang="hu-HU" sz="1800" dirty="0" err="1"/>
              <a:t>arcade</a:t>
            </a:r>
            <a:r>
              <a:rPr lang="hu-HU" sz="1800" dirty="0"/>
              <a:t> játékokat biztosít</a:t>
            </a:r>
            <a:endParaRPr lang="hu-HU" sz="1700" dirty="0"/>
          </a:p>
          <a:p>
            <a:pPr marL="0" lvl="0" indent="0">
              <a:spcBef>
                <a:spcPts val="1200"/>
              </a:spcBef>
              <a:buNone/>
            </a:pPr>
            <a:r>
              <a:rPr lang="hu-HU" sz="1800" dirty="0"/>
              <a:t>          rögzíti a játékok során elért pontszámokat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hu-HU" sz="1800" dirty="0"/>
              <a:t>          ranglistát generál a játékosok eredményeiből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hu-HU" sz="1800" dirty="0"/>
              <a:t>          bemutatja egy modern webalkalmazás architektúráját</a:t>
            </a:r>
            <a:endParaRPr lang="hu-HU" sz="17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Alkalmazott technológiák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800" dirty="0"/>
              <a:t>A projekt több technológia együttműködésével készült: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Frontend: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React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JavaScript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</a:t>
            </a:r>
            <a:r>
              <a:rPr lang="hu-HU" sz="1400" dirty="0" err="1"/>
              <a:t>Vite</a:t>
            </a:r>
            <a:endParaRPr lang="hu-HU" sz="1400" dirty="0"/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Backend: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</a:t>
            </a:r>
            <a:r>
              <a:rPr lang="en-US" sz="1400" dirty="0"/>
              <a:t>ASP.NET Core Web API</a:t>
            </a:r>
            <a:endParaRPr lang="hu-HU" sz="1400" dirty="0"/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C#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WPF admin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Adatbázis:</a:t>
            </a:r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</a:t>
            </a:r>
            <a:r>
              <a:rPr lang="hu-HU" sz="1400" dirty="0" err="1"/>
              <a:t>MySQL</a:t>
            </a:r>
            <a:endParaRPr lang="hu-HU" sz="1400" dirty="0"/>
          </a:p>
          <a:p>
            <a:pPr marL="88900" lvl="0" indent="0">
              <a:lnSpc>
                <a:spcPct val="100000"/>
              </a:lnSpc>
              <a:buSzPts val="2200"/>
              <a:buNone/>
            </a:pPr>
            <a:r>
              <a:rPr lang="hu-HU" sz="1400" dirty="0"/>
              <a:t>          </a:t>
            </a:r>
            <a:r>
              <a:rPr lang="hu-HU" sz="1400" dirty="0" err="1"/>
              <a:t>Entity</a:t>
            </a:r>
            <a:r>
              <a:rPr lang="hu-HU" sz="1400" dirty="0"/>
              <a:t> Framework </a:t>
            </a:r>
            <a:r>
              <a:rPr lang="hu-HU" sz="1400" dirty="0" err="1"/>
              <a:t>Core</a:t>
            </a:r>
            <a:endParaRPr lang="hu-HU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/>
            <a:r>
              <a:rPr lang="hu" sz="2600" dirty="0">
                <a:solidFill>
                  <a:schemeClr val="lt2"/>
                </a:solidFill>
              </a:rPr>
              <a:t>A rendszer felépítése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hu-HU" sz="1900" dirty="0"/>
              <a:t>Az alkalmazás három fő komponensből áll:</a:t>
            </a:r>
            <a:endParaRPr sz="1900" dirty="0"/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Frontend:</a:t>
            </a:r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     React webalkalmazás</a:t>
            </a:r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     Felhasználói felület</a:t>
            </a:r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Backend:</a:t>
            </a:r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     </a:t>
            </a:r>
            <a:r>
              <a:rPr lang="en-US" sz="1600" dirty="0"/>
              <a:t>ASP.NET Core Web API</a:t>
            </a:r>
            <a:endParaRPr lang="hu-HU" sz="1600" dirty="0"/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     WPF admin panel</a:t>
            </a:r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Adatbázis:</a:t>
            </a:r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     </a:t>
            </a:r>
            <a:r>
              <a:rPr lang="hu-HU" sz="1600" dirty="0" err="1"/>
              <a:t>MySQL</a:t>
            </a:r>
            <a:endParaRPr lang="hu-HU" sz="1600" dirty="0"/>
          </a:p>
          <a:p>
            <a:pPr marL="88900" lvl="0" indent="0">
              <a:lnSpc>
                <a:spcPct val="120000"/>
              </a:lnSpc>
              <a:buSzPts val="2200"/>
              <a:buNone/>
            </a:pPr>
            <a:r>
              <a:rPr lang="hu-HU" sz="1600" dirty="0"/>
              <a:t>          Felhasználók és pontszámok tárolása</a:t>
            </a:r>
            <a:endParaRPr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Adatbázis</a:t>
            </a:r>
            <a:r>
              <a:rPr lang="hu" dirty="0"/>
              <a:t>	</a:t>
            </a:r>
            <a:endParaRPr dirty="0"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20000"/>
              </a:lnSpc>
              <a:buNone/>
            </a:pPr>
            <a:r>
              <a:rPr lang="hu-HU" sz="1800" dirty="0"/>
              <a:t>Az adatbázis három fő táblából áll: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hu-HU" sz="1200" dirty="0" err="1"/>
              <a:t>users</a:t>
            </a:r>
            <a:r>
              <a:rPr lang="hu-HU" sz="1200" dirty="0"/>
              <a:t>:</a:t>
            </a:r>
          </a:p>
          <a:p>
            <a:pPr marL="146050" indent="0">
              <a:buNone/>
            </a:pPr>
            <a:r>
              <a:rPr lang="hu-HU" sz="1200" dirty="0"/>
              <a:t>felhasználók adatai</a:t>
            </a:r>
          </a:p>
          <a:p>
            <a:pPr marL="146050" indent="0">
              <a:buNone/>
            </a:pPr>
            <a:r>
              <a:rPr lang="hu-HU" sz="1200" dirty="0"/>
              <a:t>felhasználónév</a:t>
            </a:r>
          </a:p>
          <a:p>
            <a:pPr marL="146050" indent="0">
              <a:buNone/>
            </a:pPr>
            <a:r>
              <a:rPr lang="hu-HU" sz="1200" dirty="0"/>
              <a:t>jelszó </a:t>
            </a:r>
            <a:r>
              <a:rPr lang="hu-HU" sz="1200" dirty="0" err="1"/>
              <a:t>hash</a:t>
            </a:r>
            <a:endParaRPr lang="hu-HU" sz="1200" dirty="0"/>
          </a:p>
          <a:p>
            <a:pPr marL="146050" indent="0">
              <a:buNone/>
            </a:pPr>
            <a:r>
              <a:rPr lang="hu-HU" sz="1200" dirty="0"/>
              <a:t>Szerepkör</a:t>
            </a:r>
          </a:p>
          <a:p>
            <a:pPr marL="0" indent="0">
              <a:buNone/>
            </a:pPr>
            <a:r>
              <a:rPr lang="hu-HU" sz="1200" dirty="0" err="1"/>
              <a:t>games</a:t>
            </a:r>
            <a:r>
              <a:rPr lang="hu-HU" sz="1200" dirty="0"/>
              <a:t>:</a:t>
            </a:r>
          </a:p>
          <a:p>
            <a:pPr marL="146050" indent="0">
              <a:buNone/>
            </a:pPr>
            <a:r>
              <a:rPr lang="hu-HU" sz="1200" dirty="0"/>
              <a:t>elérhető játékok</a:t>
            </a:r>
          </a:p>
          <a:p>
            <a:pPr marL="0" indent="0">
              <a:buNone/>
            </a:pPr>
            <a:r>
              <a:rPr lang="hu-HU" sz="1200" dirty="0" err="1"/>
              <a:t>user_high_scores</a:t>
            </a:r>
            <a:r>
              <a:rPr lang="hu-HU" sz="1200" dirty="0"/>
              <a:t>:</a:t>
            </a:r>
          </a:p>
          <a:p>
            <a:pPr marL="146050" indent="0">
              <a:buNone/>
            </a:pPr>
            <a:r>
              <a:rPr lang="hu-HU" sz="1200" dirty="0"/>
              <a:t>felhasználók pontszámai</a:t>
            </a:r>
          </a:p>
          <a:p>
            <a:pPr marL="0" indent="0">
              <a:buNone/>
            </a:pPr>
            <a:r>
              <a:rPr lang="hu-HU" sz="1200" dirty="0"/>
              <a:t>Kapcsolatok:</a:t>
            </a:r>
          </a:p>
          <a:p>
            <a:pPr marL="0" indent="0">
              <a:buNone/>
            </a:pPr>
            <a:r>
              <a:rPr lang="hu-HU" sz="1200" dirty="0"/>
              <a:t>   egy felhasználó több játékban is játszhat</a:t>
            </a:r>
          </a:p>
          <a:p>
            <a:pPr marL="0" indent="0">
              <a:buNone/>
            </a:pPr>
            <a:r>
              <a:rPr lang="hu-HU" sz="1200" dirty="0"/>
              <a:t>   minden játékhoz egy rekord tartozik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-HU" dirty="0">
                <a:solidFill>
                  <a:schemeClr val="lt2"/>
                </a:solidFill>
              </a:rPr>
              <a:t>Backend rendszer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hu-HU" sz="1900" dirty="0"/>
              <a:t>A backend ASP.NET </a:t>
            </a:r>
            <a:r>
              <a:rPr lang="hu-HU" sz="1900" dirty="0" err="1"/>
              <a:t>Core</a:t>
            </a:r>
            <a:r>
              <a:rPr lang="hu-HU" sz="1900" dirty="0"/>
              <a:t> Web API technológiával készült.</a:t>
            </a:r>
          </a:p>
          <a:p>
            <a:r>
              <a:rPr lang="hu-HU" sz="1900" dirty="0"/>
              <a:t>Fő feladatai:</a:t>
            </a:r>
          </a:p>
          <a:p>
            <a:pPr lvl="1"/>
            <a:r>
              <a:rPr lang="hu-HU" sz="1700" dirty="0"/>
              <a:t>felhasználói hitelesítés</a:t>
            </a:r>
          </a:p>
          <a:p>
            <a:pPr lvl="1"/>
            <a:r>
              <a:rPr lang="hu-HU" sz="1700" dirty="0"/>
              <a:t>API végpontok kezelése</a:t>
            </a:r>
          </a:p>
          <a:p>
            <a:pPr lvl="1"/>
            <a:r>
              <a:rPr lang="hu-HU" sz="1700" dirty="0"/>
              <a:t>adatbázis műveletek</a:t>
            </a:r>
          </a:p>
          <a:p>
            <a:pPr lvl="1"/>
            <a:r>
              <a:rPr lang="hu-HU" sz="1700" dirty="0"/>
              <a:t>pontszámok kezelése</a:t>
            </a:r>
          </a:p>
          <a:p>
            <a:r>
              <a:rPr lang="hu-HU" sz="1900" dirty="0"/>
              <a:t>A rendszer REST architektúrát használ.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509FB442-89B8-E236-3468-E94DEDF5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3C9F62C7-A4B5-1179-2C3F-0512CB8806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Backend architektúra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20F7C9C1-D9F4-7F87-CF16-16CD0920E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hu-HU" sz="1500" dirty="0"/>
              <a:t>A backend réteges felépítésű:</a:t>
            </a:r>
          </a:p>
          <a:p>
            <a:pPr marL="146050" indent="0">
              <a:buNone/>
            </a:pPr>
            <a:r>
              <a:rPr lang="hu-HU" sz="1500" dirty="0"/>
              <a:t>     </a:t>
            </a:r>
            <a:r>
              <a:rPr lang="hu-HU" sz="1500" dirty="0" err="1"/>
              <a:t>Controller</a:t>
            </a:r>
            <a:r>
              <a:rPr lang="hu-HU" sz="1500" dirty="0"/>
              <a:t> réteg:</a:t>
            </a:r>
          </a:p>
          <a:p>
            <a:pPr marL="146050" indent="0">
              <a:buNone/>
            </a:pPr>
            <a:r>
              <a:rPr lang="hu-HU" sz="1500" dirty="0"/>
              <a:t>           HTTP kérések kezelése</a:t>
            </a:r>
          </a:p>
          <a:p>
            <a:pPr marL="146050" indent="0">
              <a:buNone/>
            </a:pPr>
            <a:r>
              <a:rPr lang="hu-HU" sz="1500" dirty="0"/>
              <a:t>     Service réteg:</a:t>
            </a:r>
          </a:p>
          <a:p>
            <a:pPr marL="146050" indent="0">
              <a:buNone/>
            </a:pPr>
            <a:r>
              <a:rPr lang="hu-HU" sz="1500" dirty="0"/>
              <a:t>           üzleti logika</a:t>
            </a:r>
          </a:p>
          <a:p>
            <a:pPr marL="146050" indent="0">
              <a:buNone/>
            </a:pPr>
            <a:r>
              <a:rPr lang="hu-HU" sz="1500" dirty="0"/>
              <a:t>     </a:t>
            </a:r>
            <a:r>
              <a:rPr lang="hu-HU" sz="1500" dirty="0" err="1"/>
              <a:t>Model</a:t>
            </a:r>
            <a:r>
              <a:rPr lang="hu-HU" sz="1500" dirty="0"/>
              <a:t> réteg:</a:t>
            </a:r>
          </a:p>
          <a:p>
            <a:pPr marL="146050" indent="0">
              <a:buNone/>
            </a:pPr>
            <a:r>
              <a:rPr lang="hu-HU" sz="1500" dirty="0"/>
              <a:t>           adatbázis modellek</a:t>
            </a:r>
          </a:p>
          <a:p>
            <a:pPr marL="146050" indent="0">
              <a:buNone/>
            </a:pPr>
            <a:r>
              <a:rPr lang="hu-HU" sz="1500" dirty="0"/>
              <a:t>     DTO réteg:</a:t>
            </a:r>
          </a:p>
          <a:p>
            <a:pPr marL="146050" indent="0">
              <a:buNone/>
            </a:pPr>
            <a:r>
              <a:rPr lang="hu-HU" sz="1500" dirty="0"/>
              <a:t>           API kommunikáció</a:t>
            </a:r>
          </a:p>
          <a:p>
            <a:pPr marL="146050" indent="0">
              <a:buNone/>
            </a:pPr>
            <a:r>
              <a:rPr lang="hu-HU" sz="1500" dirty="0"/>
              <a:t>      Adatbázis réteg:</a:t>
            </a:r>
          </a:p>
          <a:p>
            <a:pPr marL="146050" indent="0">
              <a:buNone/>
            </a:pPr>
            <a:r>
              <a:rPr lang="hu-HU" sz="1500" dirty="0"/>
              <a:t>           </a:t>
            </a:r>
            <a:r>
              <a:rPr lang="hu-HU" sz="1500" dirty="0" err="1"/>
              <a:t>Entity</a:t>
            </a:r>
            <a:r>
              <a:rPr lang="hu-HU" sz="1500" dirty="0"/>
              <a:t> Framework </a:t>
            </a:r>
            <a:r>
              <a:rPr lang="hu-HU" sz="1500" dirty="0" err="1"/>
              <a:t>Core</a:t>
            </a:r>
            <a:endParaRPr lang="hu-HU" sz="1500" dirty="0"/>
          </a:p>
        </p:txBody>
      </p:sp>
    </p:spTree>
    <p:extLst>
      <p:ext uri="{BB962C8B-B14F-4D97-AF65-F5344CB8AC3E}">
        <p14:creationId xmlns:p14="http://schemas.microsoft.com/office/powerpoint/2010/main" val="2150420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62B76F95-1C73-B72B-FA64-9076EE50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01E6FC75-9C2D-35FC-7618-6E82BAEEC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Pontszám rendszer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3E0A022C-A18F-E084-CFFD-6B862710E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hu-HU" sz="1800" dirty="0"/>
              <a:t>A rendszer automatikusan rögzíti a játékok pontszámait.</a:t>
            </a:r>
          </a:p>
          <a:p>
            <a:pPr marL="146050" indent="0">
              <a:buNone/>
            </a:pPr>
            <a:r>
              <a:rPr lang="hu-HU" sz="1800" dirty="0"/>
              <a:t>Működés:</a:t>
            </a:r>
          </a:p>
          <a:p>
            <a:r>
              <a:rPr lang="hu-HU" sz="1800" dirty="0"/>
              <a:t>a játék végén a frontend elküldi a pontszámot</a:t>
            </a:r>
          </a:p>
          <a:p>
            <a:r>
              <a:rPr lang="hu-HU" sz="1800" dirty="0"/>
              <a:t>a backend ellenőrzi a rekordot</a:t>
            </a:r>
          </a:p>
          <a:p>
            <a:r>
              <a:rPr lang="hu-HU" sz="1800" dirty="0"/>
              <a:t>ha az új pontszám magasabb → frissítés</a:t>
            </a:r>
          </a:p>
          <a:p>
            <a:r>
              <a:rPr lang="hu-HU" sz="1800" dirty="0"/>
              <a:t>ha alacsonyabb → változatlan</a:t>
            </a:r>
          </a:p>
          <a:p>
            <a:r>
              <a:rPr lang="hu-HU" sz="1800" dirty="0"/>
              <a:t>A memória játék kivétel</a:t>
            </a:r>
          </a:p>
          <a:p>
            <a:pPr marL="146050" indent="0">
              <a:buNone/>
            </a:pPr>
            <a:r>
              <a:rPr lang="hu-HU" sz="1800" dirty="0"/>
              <a:t>Ez biztosítja, hogy mindig a legjobb eredmény legyen eltárolva.</a:t>
            </a:r>
          </a:p>
        </p:txBody>
      </p:sp>
    </p:spTree>
    <p:extLst>
      <p:ext uri="{BB962C8B-B14F-4D97-AF65-F5344CB8AC3E}">
        <p14:creationId xmlns:p14="http://schemas.microsoft.com/office/powerpoint/2010/main" val="25841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FF97EC88-0177-952C-75A7-7E6A6F63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70AC5AF4-17E6-0366-5BEE-8EE944B35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Frontend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F192DCE8-1DE4-6C7B-7DA6-DB8000B3C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146050" indent="0">
              <a:buNone/>
            </a:pPr>
            <a:r>
              <a:rPr lang="hu-HU" sz="3200" dirty="0"/>
              <a:t>A frontend React alapú webalkalmazás.</a:t>
            </a:r>
          </a:p>
          <a:p>
            <a:pPr marL="146050" indent="0">
              <a:buNone/>
            </a:pPr>
            <a:r>
              <a:rPr lang="hu-HU" sz="3200" dirty="0"/>
              <a:t>      Jellemzők:</a:t>
            </a:r>
          </a:p>
          <a:p>
            <a:pPr marL="146050" indent="0">
              <a:buNone/>
            </a:pPr>
            <a:r>
              <a:rPr lang="hu-HU" sz="3200" dirty="0"/>
              <a:t>            </a:t>
            </a:r>
            <a:r>
              <a:rPr lang="hu-HU" sz="3200" dirty="0" err="1"/>
              <a:t>Single</a:t>
            </a:r>
            <a:r>
              <a:rPr lang="hu-HU" sz="3200" dirty="0"/>
              <a:t> Page </a:t>
            </a:r>
            <a:r>
              <a:rPr lang="hu-HU" sz="3200" dirty="0" err="1"/>
              <a:t>Application</a:t>
            </a:r>
            <a:endParaRPr lang="hu-HU" sz="3200" dirty="0"/>
          </a:p>
          <a:p>
            <a:pPr marL="146050" indent="0">
              <a:buNone/>
            </a:pPr>
            <a:r>
              <a:rPr lang="hu-HU" sz="3200" dirty="0"/>
              <a:t>            gyors navigáció</a:t>
            </a:r>
          </a:p>
          <a:p>
            <a:pPr marL="146050" indent="0">
              <a:buNone/>
            </a:pPr>
            <a:r>
              <a:rPr lang="hu-HU" sz="3200" dirty="0"/>
              <a:t>            komponens alapú felépítés</a:t>
            </a:r>
          </a:p>
          <a:p>
            <a:pPr marL="146050" indent="0">
              <a:buNone/>
            </a:pPr>
            <a:r>
              <a:rPr lang="hu-HU" sz="3200" dirty="0"/>
              <a:t>      Fő oldalak:</a:t>
            </a:r>
          </a:p>
          <a:p>
            <a:pPr marL="146050" indent="0">
              <a:buNone/>
            </a:pPr>
            <a:r>
              <a:rPr lang="hu-HU" sz="3200" dirty="0"/>
              <a:t>            Main</a:t>
            </a:r>
          </a:p>
          <a:p>
            <a:pPr marL="146050" indent="0">
              <a:buNone/>
            </a:pPr>
            <a:r>
              <a:rPr lang="hu-HU" sz="3200" dirty="0"/>
              <a:t>            Login</a:t>
            </a:r>
          </a:p>
          <a:p>
            <a:pPr marL="146050" indent="0">
              <a:buNone/>
            </a:pPr>
            <a:r>
              <a:rPr lang="hu-HU" sz="3200" dirty="0"/>
              <a:t>            </a:t>
            </a:r>
            <a:r>
              <a:rPr lang="hu-HU" sz="3200" dirty="0" err="1"/>
              <a:t>Register</a:t>
            </a:r>
            <a:endParaRPr lang="hu-HU" sz="3200" dirty="0"/>
          </a:p>
          <a:p>
            <a:pPr marL="146050" indent="0">
              <a:buNone/>
            </a:pPr>
            <a:r>
              <a:rPr lang="hu-HU" sz="3200" dirty="0"/>
              <a:t>            </a:t>
            </a:r>
            <a:r>
              <a:rPr lang="hu-HU" sz="3200" dirty="0" err="1"/>
              <a:t>Profile</a:t>
            </a:r>
            <a:endParaRPr lang="hu-HU" sz="3200" dirty="0"/>
          </a:p>
          <a:p>
            <a:pPr marL="146050" indent="0">
              <a:buNone/>
            </a:pPr>
            <a:r>
              <a:rPr lang="hu-HU" sz="3200" dirty="0"/>
              <a:t>            </a:t>
            </a:r>
            <a:r>
              <a:rPr lang="hu-HU" sz="3200" dirty="0" err="1"/>
              <a:t>Leaderboard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4001473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6134CB5D-454B-FFAC-D21C-31053102E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124BF675-CA67-69F8-82A7-12531C359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Játékok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6A107530-8121-1E98-31A7-BE2DDDDE5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hu-HU" sz="1800" dirty="0"/>
              <a:t>A rendszer jelenleg három játékot tartalmaz:</a:t>
            </a:r>
          </a:p>
          <a:p>
            <a:pPr marL="146050" indent="0">
              <a:buNone/>
            </a:pPr>
            <a:r>
              <a:rPr lang="hu-HU" sz="1800" dirty="0" err="1"/>
              <a:t>Fighter</a:t>
            </a:r>
            <a:endParaRPr lang="hu-HU" sz="1800" dirty="0"/>
          </a:p>
          <a:p>
            <a:r>
              <a:rPr lang="hu-HU" sz="1800" dirty="0" err="1"/>
              <a:t>arcade</a:t>
            </a:r>
            <a:r>
              <a:rPr lang="hu-HU" sz="1800" dirty="0"/>
              <a:t> </a:t>
            </a:r>
            <a:r>
              <a:rPr lang="hu-HU" sz="1800" dirty="0" err="1"/>
              <a:t>shooter</a:t>
            </a:r>
            <a:endParaRPr lang="hu-HU" sz="1800" dirty="0"/>
          </a:p>
          <a:p>
            <a:pPr marL="146050" indent="0">
              <a:buNone/>
            </a:pPr>
            <a:r>
              <a:rPr lang="hu-HU" sz="1800" dirty="0" err="1"/>
              <a:t>Memory</a:t>
            </a:r>
            <a:endParaRPr lang="hu-HU" sz="1800" dirty="0"/>
          </a:p>
          <a:p>
            <a:r>
              <a:rPr lang="hu-HU" sz="1800" dirty="0"/>
              <a:t>Szám-kártyapárosító játék</a:t>
            </a:r>
          </a:p>
          <a:p>
            <a:pPr marL="146050" indent="0">
              <a:buNone/>
            </a:pPr>
            <a:r>
              <a:rPr lang="hu-HU" sz="1800" dirty="0" err="1"/>
              <a:t>Snake</a:t>
            </a:r>
            <a:endParaRPr lang="hu-HU" sz="1800" dirty="0"/>
          </a:p>
          <a:p>
            <a:r>
              <a:rPr lang="hu-HU" sz="1800" dirty="0"/>
              <a:t>klasszikus kígyó játék</a:t>
            </a:r>
          </a:p>
          <a:p>
            <a:pPr marL="146050" indent="0">
              <a:buNone/>
            </a:pPr>
            <a:r>
              <a:rPr lang="hu-HU" sz="1800" dirty="0"/>
              <a:t>A játék végén a pontszám automatikusan mentésre kerül.</a:t>
            </a:r>
          </a:p>
        </p:txBody>
      </p:sp>
    </p:spTree>
    <p:extLst>
      <p:ext uri="{BB962C8B-B14F-4D97-AF65-F5344CB8AC3E}">
        <p14:creationId xmlns:p14="http://schemas.microsoft.com/office/powerpoint/2010/main" val="4165994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6FED704-5200-DCE9-F770-8AC72C93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24FAEC85-8156-8E02-3F5E-DEBF788773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Tesztelés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7D2641DE-DCF4-3F0A-EE04-3479797EE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buNone/>
            </a:pPr>
            <a:r>
              <a:rPr lang="hu-HU" sz="1800" dirty="0"/>
              <a:t>A rendszer több szinten került tesztelésre:</a:t>
            </a:r>
          </a:p>
          <a:p>
            <a:pPr marL="146050" indent="0">
              <a:buNone/>
            </a:pPr>
            <a:r>
              <a:rPr lang="hu-HU" sz="1800" dirty="0"/>
              <a:t>Frontend tesztelés</a:t>
            </a:r>
          </a:p>
          <a:p>
            <a:r>
              <a:rPr lang="hu-HU" sz="1800" dirty="0"/>
              <a:t>React komponensek</a:t>
            </a:r>
          </a:p>
          <a:p>
            <a:pPr marL="146050" indent="0">
              <a:buNone/>
            </a:pPr>
            <a:r>
              <a:rPr lang="hu-HU" sz="1800" dirty="0"/>
              <a:t>Backend tesztelés</a:t>
            </a:r>
          </a:p>
          <a:p>
            <a:r>
              <a:rPr lang="hu-HU" sz="1800" dirty="0"/>
              <a:t>API végpontok</a:t>
            </a:r>
          </a:p>
          <a:p>
            <a:pPr marL="146050" indent="0">
              <a:buNone/>
            </a:pPr>
            <a:r>
              <a:rPr lang="hu-HU" sz="1800" dirty="0"/>
              <a:t>Funkcionális tesztelés</a:t>
            </a:r>
          </a:p>
          <a:p>
            <a:r>
              <a:rPr lang="hu-HU" sz="1800" dirty="0" err="1"/>
              <a:t>Selenium</a:t>
            </a:r>
            <a:r>
              <a:rPr lang="hu-HU" sz="1800" dirty="0"/>
              <a:t> </a:t>
            </a:r>
            <a:r>
              <a:rPr lang="hu-HU" sz="1800" dirty="0" err="1"/>
              <a:t>WebDriver</a:t>
            </a:r>
            <a:endParaRPr lang="hu-HU" sz="1800" dirty="0"/>
          </a:p>
          <a:p>
            <a:pPr marL="146050" indent="0">
              <a:buNone/>
            </a:pPr>
            <a:r>
              <a:rPr lang="hu-HU" sz="1800" dirty="0"/>
              <a:t>A tesztek részletes leírása a külön tesztdokumentációban található.</a:t>
            </a:r>
          </a:p>
        </p:txBody>
      </p:sp>
    </p:spTree>
    <p:extLst>
      <p:ext uri="{BB962C8B-B14F-4D97-AF65-F5344CB8AC3E}">
        <p14:creationId xmlns:p14="http://schemas.microsoft.com/office/powerpoint/2010/main" val="2617873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1698480-BE87-460D-F76C-6CFC98DE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>
            <a:extLst>
              <a:ext uri="{FF2B5EF4-FFF2-40B4-BE49-F238E27FC236}">
                <a16:creationId xmlns:a16="http://schemas.microsoft.com/office/drawing/2014/main" id="{CF17CFB8-4F1F-6969-9494-C331E581F8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2600" dirty="0">
                <a:solidFill>
                  <a:schemeClr val="lt2"/>
                </a:solidFill>
              </a:rPr>
              <a:t>Összegzés</a:t>
            </a:r>
            <a:endParaRPr sz="2600" dirty="0">
              <a:solidFill>
                <a:schemeClr val="lt2"/>
              </a:solidFill>
            </a:endParaRPr>
          </a:p>
        </p:txBody>
      </p:sp>
      <p:sp>
        <p:nvSpPr>
          <p:cNvPr id="195" name="Google Shape;195;p23">
            <a:extLst>
              <a:ext uri="{FF2B5EF4-FFF2-40B4-BE49-F238E27FC236}">
                <a16:creationId xmlns:a16="http://schemas.microsoft.com/office/drawing/2014/main" id="{136B29C3-0DA1-886D-E220-D39C3F4F6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hu-HU" sz="1800" dirty="0"/>
              <a:t>Az </a:t>
            </a:r>
            <a:r>
              <a:rPr lang="hu-HU" sz="1800" dirty="0" err="1"/>
              <a:t>Arcade</a:t>
            </a:r>
            <a:r>
              <a:rPr lang="hu-HU" sz="1800" dirty="0"/>
              <a:t> </a:t>
            </a:r>
            <a:r>
              <a:rPr lang="hu-HU" sz="1800" dirty="0" err="1"/>
              <a:t>Mania</a:t>
            </a:r>
            <a:r>
              <a:rPr lang="hu-HU" sz="1800" dirty="0"/>
              <a:t> egy teljes </a:t>
            </a:r>
            <a:r>
              <a:rPr lang="hu-HU" sz="1800" dirty="0" err="1"/>
              <a:t>stack</a:t>
            </a:r>
            <a:r>
              <a:rPr lang="hu-HU" sz="1800" dirty="0"/>
              <a:t> webalkalmazás.</a:t>
            </a:r>
          </a:p>
          <a:p>
            <a:pPr marL="146050" indent="0">
              <a:buNone/>
            </a:pPr>
            <a:r>
              <a:rPr lang="hu-HU" sz="1800" dirty="0"/>
              <a:t>A projekt bemutatja:</a:t>
            </a:r>
          </a:p>
          <a:p>
            <a:r>
              <a:rPr lang="hu-HU" sz="1800" dirty="0"/>
              <a:t>frontend és backend együttműködését</a:t>
            </a:r>
          </a:p>
          <a:p>
            <a:r>
              <a:rPr lang="hu-HU" sz="1800" dirty="0"/>
              <a:t>REST API működését</a:t>
            </a:r>
          </a:p>
          <a:p>
            <a:r>
              <a:rPr lang="hu-HU" sz="1800" dirty="0"/>
              <a:t>adatbázis kezelését</a:t>
            </a:r>
          </a:p>
          <a:p>
            <a:r>
              <a:rPr lang="hu-HU" sz="1800" dirty="0" err="1"/>
              <a:t>autentikációt</a:t>
            </a:r>
            <a:endParaRPr lang="hu-HU" sz="1800" dirty="0"/>
          </a:p>
          <a:p>
            <a:r>
              <a:rPr lang="hu-HU" sz="1800" dirty="0"/>
              <a:t>játékok pontszám kezelését</a:t>
            </a:r>
          </a:p>
          <a:p>
            <a:pPr marL="146050" indent="0">
              <a:buNone/>
            </a:pPr>
            <a:r>
              <a:rPr lang="hu-HU" sz="1800" dirty="0"/>
              <a:t>A projekt során jelentős tapasztalatot szereztünk a modern webfejlesztési technológiák használatában.</a:t>
            </a:r>
          </a:p>
        </p:txBody>
      </p:sp>
    </p:spTree>
    <p:extLst>
      <p:ext uri="{BB962C8B-B14F-4D97-AF65-F5344CB8AC3E}">
        <p14:creationId xmlns:p14="http://schemas.microsoft.com/office/powerpoint/2010/main" val="3950263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figyelmet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Bódi Szabolcs, Oravecz Ádám József, Tátrai Levente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519</Words>
  <Application>Microsoft Office PowerPoint</Application>
  <PresentationFormat>Diavetítés a képernyőre (16:9 oldalarány)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Lato</vt:lpstr>
      <vt:lpstr>Montserrat</vt:lpstr>
      <vt:lpstr>Arial</vt:lpstr>
      <vt:lpstr>Focus</vt:lpstr>
      <vt:lpstr>Arcade Mania Védő prezentáció</vt:lpstr>
      <vt:lpstr>Arcade Mania</vt:lpstr>
      <vt:lpstr>Projekt bemutatása</vt:lpstr>
      <vt:lpstr>A projekt célja</vt:lpstr>
      <vt:lpstr>Alkalmazott technológiák</vt:lpstr>
      <vt:lpstr>A rendszer felépítése</vt:lpstr>
      <vt:lpstr>Adatbázis </vt:lpstr>
      <vt:lpstr>Backend rendszer</vt:lpstr>
      <vt:lpstr>Backend architektúra</vt:lpstr>
      <vt:lpstr>Pontszám rendszer</vt:lpstr>
      <vt:lpstr>Frontend</vt:lpstr>
      <vt:lpstr>Játékok</vt:lpstr>
      <vt:lpstr>Tesztelés</vt:lpstr>
      <vt:lpstr>Összegzés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Szabolcs Bódi</cp:lastModifiedBy>
  <cp:revision>103</cp:revision>
  <dcterms:modified xsi:type="dcterms:W3CDTF">2026-03-13T07:54:53Z</dcterms:modified>
</cp:coreProperties>
</file>